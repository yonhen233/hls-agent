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1" r:id="rId7"/>
    <p:sldId id="262" r:id="rId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2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2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94360"/>
            <a:ext cx="105156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深度学习算子转 HLS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D6E7F2"/>
                </a:solidFill>
                <a:latin typeface="微软雅黑" panose="020B0503020204020204" charset="-122"/>
              </a:defRPr>
            </a:pPr>
            <a:r>
              <a:t>面向 FPGA HLS 工作流的 Tool-using Agent 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用 MNIST 真实识别 Demo 证明：模型 → HLS → Vivado csim/csynth → 识别验证，已经形成可追踪闭环。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033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703320"/>
            <a:ext cx="73152" cy="11887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822191"/>
            <a:ext cx="3090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真实结果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4178808"/>
            <a:ext cx="30906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HLS csim accuracy 95%</a:t>
            </a:r>
            <a:br/>
            <a:r>
              <a:t>argmax match 100%</a:t>
            </a:r>
            <a:br/>
            <a:r>
              <a:t>timing met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7033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3703320"/>
            <a:ext cx="73152" cy="118872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3822191"/>
            <a:ext cx="3090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工程框架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4178808"/>
            <a:ext cx="30906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Todo + Specialist</a:t>
            </a:r>
            <a:br/>
            <a:r>
              <a:t>ToolRegistry + Trace</a:t>
            </a:r>
            <a:br/>
            <a:r>
              <a:t>Memory/RAG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7033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3703320"/>
            <a:ext cx="73152" cy="1188720"/>
          </a:xfrm>
          <a:prstGeom prst="rect">
            <a:avLst/>
          </a:prstGeom>
          <a:solidFill>
            <a:srgbClr val="EF8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3822191"/>
            <a:ext cx="3090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下一阶段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4178808"/>
            <a:ext cx="30906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CNN adapter</a:t>
            </a:r>
            <a:br/>
            <a:r>
              <a:t>precision advisor</a:t>
            </a:r>
            <a:br/>
            <a:r>
              <a:t>上板前 IP 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D6E7F2"/>
                </a:solidFill>
                <a:latin typeface="微软雅黑" panose="020B0503020204020204" charset="-122"/>
              </a:defRPr>
            </a:pPr>
            <a:r>
              <a:t>汇报目标：争取导师支持继续推进“模型到 HLS”的工程化 Agent 方向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为什么这个项目值得做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41248"/>
            <a:ext cx="1097280" cy="4572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607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痛点：深度学习模型到 FPGA HLS 的链路长、工具碎、失败难定位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1143000"/>
          </a:xfrm>
          <a:prstGeom prst="rect">
            <a:avLst/>
          </a:prstGeom>
          <a:solidFill>
            <a:srgbClr val="285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36192"/>
            <a:ext cx="31821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工具链门槛高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265" y="1892935"/>
            <a:ext cx="3018155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hls4ml / ONNX / Vivado HLS / report parser 分散，学生很难一次跑通。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417320"/>
            <a:ext cx="73152" cy="1143000"/>
          </a:xfrm>
          <a:prstGeom prst="rect">
            <a:avLst/>
          </a:prstGeom>
          <a:solidFill>
            <a:srgbClr val="C94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36192"/>
            <a:ext cx="31821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失败路径复杂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585" y="1892935"/>
            <a:ext cx="301752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算子不支持、版本兼容、csim 数值误差、timing 失败都需要结构化处理。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73152" cy="1143000"/>
          </a:xfrm>
          <a:prstGeom prst="rect">
            <a:avLst/>
          </a:prstGeom>
          <a:solidFill>
            <a:srgbClr val="EF8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1536192"/>
            <a:ext cx="31821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经验难复用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6905" y="1892935"/>
            <a:ext cx="302641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precision、reuse_factor、clock、错误修复经验往往散落在日志里。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项目目标：把“模型到 HLS”的流程变成一个可追踪、可验证、可记忆、可扩展的 Agent 系统。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977639"/>
            <a:ext cx="1508760" cy="594360"/>
          </a:xfrm>
          <a:prstGeom prst="roundRect">
            <a:avLst/>
          </a:prstGeom>
          <a:solidFill>
            <a:srgbClr val="285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用户任务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68880" y="4279392"/>
            <a:ext cx="411480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926080" y="3977639"/>
            <a:ext cx="1691640" cy="594360"/>
          </a:xfrm>
          <a:prstGeom prst="round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Agent 编排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63440" y="4279392"/>
            <a:ext cx="411480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20640" y="3977639"/>
            <a:ext cx="1828800" cy="594360"/>
          </a:xfrm>
          <a:prstGeom prst="roundRect">
            <a:avLst/>
          </a:prstGeom>
          <a:solidFill>
            <a:srgbClr val="EF8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EDA 工具链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95160" y="4279392"/>
            <a:ext cx="411480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52360" y="3977639"/>
            <a:ext cx="1691640" cy="5943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报告解析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89720" y="4279392"/>
            <a:ext cx="411480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3977639"/>
            <a:ext cx="1691640" cy="594360"/>
          </a:xfrm>
          <a:prstGeom prst="roundRect">
            <a:avLst/>
          </a:prstGeom>
          <a:solidFill>
            <a:srgbClr val="285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经验沉淀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7492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9793"/>
                </a:solidFill>
                <a:latin typeface="微软雅黑" panose="020B0503020204020204" charset="-122"/>
              </a:defRPr>
            </a:pPr>
            <a:r>
              <a:t>价值：既服务 FPGA/HLS 研究，也能体现现代 Agent 工程能力。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56539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DL-Operator-to-HLS Agent · MNIST 真实识别 Demo · 2026-06-17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项目基本原理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41248"/>
            <a:ext cx="1097280" cy="4572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607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Main Agent 负责编排，Specialist 处理局部领域任务，工具负责事实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2057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508760"/>
            <a:ext cx="73152" cy="1920240"/>
          </a:xfrm>
          <a:prstGeom prst="rect">
            <a:avLst/>
          </a:prstGeom>
          <a:solidFill>
            <a:srgbClr val="142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627631"/>
            <a:ext cx="17647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Main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176479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任务理解</a:t>
            </a:r>
            <a:br/>
            <a:r>
              <a:t>路径选择</a:t>
            </a:r>
            <a:br/>
            <a:r>
              <a:t>状态合并</a:t>
            </a:r>
            <a:br/>
            <a:r>
              <a:t>最终报告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1508760"/>
            <a:ext cx="2057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44952" y="1508760"/>
            <a:ext cx="73152" cy="1920240"/>
          </a:xfrm>
          <a:prstGeom prst="rect">
            <a:avLst/>
          </a:prstGeom>
          <a:solidFill>
            <a:srgbClr val="285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9544" y="1627631"/>
            <a:ext cx="17647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Todo 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9544" y="1984248"/>
            <a:ext cx="176479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Plan → Todo</a:t>
            </a:r>
            <a:br/>
            <a:r>
              <a:t>Execute → Reflect</a:t>
            </a:r>
            <a:br/>
            <a:r>
              <a:t>Finalize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12664" y="1508760"/>
            <a:ext cx="2057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12664" y="1508760"/>
            <a:ext cx="73152" cy="192024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7256" y="1627631"/>
            <a:ext cx="17647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Specialists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7256" y="1984248"/>
            <a:ext cx="176479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HLS4ML</a:t>
            </a:r>
            <a:br/>
            <a:r>
              <a:t>Vivado</a:t>
            </a:r>
            <a:br/>
            <a:r>
              <a:t>Verification</a:t>
            </a:r>
            <a:br/>
            <a:r>
              <a:t>Optimization</a:t>
            </a:r>
            <a:br/>
            <a:r>
              <a:t>Memory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0376" y="1508760"/>
            <a:ext cx="2057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0376" y="1508760"/>
            <a:ext cx="73152" cy="1920240"/>
          </a:xfrm>
          <a:prstGeom prst="rect">
            <a:avLst/>
          </a:prstGeom>
          <a:solidFill>
            <a:srgbClr val="EF8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1627631"/>
            <a:ext cx="17647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1984248"/>
            <a:ext cx="176479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hls4ml</a:t>
            </a:r>
            <a:br/>
            <a:r>
              <a:t>Vivado HLS</a:t>
            </a:r>
            <a:br/>
            <a:r>
              <a:t>Report parser</a:t>
            </a:r>
            <a:br/>
            <a:r>
              <a:t>DB/RAG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48088" y="1508760"/>
            <a:ext cx="2057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F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48088" y="1508760"/>
            <a:ext cx="73152" cy="19202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1627631"/>
            <a:ext cx="17647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Artifacts/Memory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1984248"/>
            <a:ext cx="176479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262B33"/>
                </a:solidFill>
                <a:latin typeface="微软雅黑" panose="020B0503020204020204" charset="-122"/>
              </a:defRPr>
            </a:pPr>
            <a:r>
              <a:t>HLS 工程</a:t>
            </a:r>
            <a:br/>
            <a:r>
              <a:t>logs/reports</a:t>
            </a:r>
            <a:br/>
            <a:r>
              <a:t>SQLite</a:t>
            </a:r>
            <a:br/>
            <a:r>
              <a:t>RAG chunks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77639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核心思想：LLM handles ambiguity，Tools handle facts，Workflow handles guarantees，Verification decides trust。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914400" y="4754880"/>
          <a:ext cx="102412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3413760"/>
                <a:gridCol w="3413760"/>
              </a:tblGrid>
              <a:tr h="30861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层次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负责什么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为什么这样设计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确定性 Workflow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HLS 必经阶段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保证可复现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Agent 决策点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路径选择/失败恢复/经验复用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根据 observation 更新状态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LLM 能力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候选代码/repair/解释优化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只在开放问题启用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656539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DL-Operator-to-HLS Agent · MNIST 真实识别 Demo · 2026-06-17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65392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当前工作流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41248"/>
            <a:ext cx="1097280" cy="4572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279400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rPr sz="1400" b="1"/>
              <a:t>以 MNIST 真实识别 Demo 为例</a:t>
            </a:r>
            <a:endParaRPr sz="1400" b="1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417320" cy="731520"/>
          </a:xfrm>
          <a:prstGeom prst="roundRect">
            <a:avLst/>
          </a:prstGeom>
          <a:solidFill>
            <a:srgbClr val="285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训练 </a:t>
            </a:r>
            <a:br/>
            <a:r>
              <a:t>PyTorch</a:t>
            </a:r>
            <a:br/>
            <a:r>
              <a:rPr lang="zh-CN"/>
              <a:t>模型</a:t>
            </a:r>
            <a:endParaRPr lang="zh-CN"/>
          </a:p>
        </p:txBody>
      </p:sp>
      <p:cxnSp>
        <p:nvCxnSpPr>
          <p:cNvPr id="6" name="Connector 5"/>
          <p:cNvCxnSpPr/>
          <p:nvPr/>
        </p:nvCxnSpPr>
        <p:spPr>
          <a:xfrm>
            <a:off x="1947672" y="2194560"/>
            <a:ext cx="338328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67128" y="1828800"/>
            <a:ext cx="1417320" cy="731520"/>
          </a:xfrm>
          <a:prstGeom prst="round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导出 ONNX</a:t>
            </a:r>
            <a:br/>
            <a:r>
              <a:t>Gemm + Relu</a:t>
            </a:r>
            <a:br/>
            <a:r>
              <a:t>静态 shape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11880" y="2194560"/>
            <a:ext cx="338328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31336" y="1828800"/>
            <a:ext cx="1417320" cy="731520"/>
          </a:xfrm>
          <a:prstGeom prst="round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hls4ml adapter</a:t>
            </a:r>
            <a:br/>
            <a:r>
              <a:t>Gemm → Dense</a:t>
            </a:r>
            <a:br/>
            <a:r>
              <a:t>Relu → Activation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76088" y="2194560"/>
            <a:ext cx="338328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95544" y="1828800"/>
            <a:ext cx="1417320" cy="731520"/>
          </a:xfrm>
          <a:prstGeom prst="round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生成 HLS 工程</a:t>
            </a:r>
            <a:br/>
            <a:r>
              <a:t>hls4ml</a:t>
            </a:r>
            <a:br/>
            <a:r>
              <a:t>Vivado backend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0296" y="2194560"/>
            <a:ext cx="338328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59752" y="1828800"/>
            <a:ext cx="1417320" cy="731520"/>
          </a:xfrm>
          <a:prstGeom prst="roundRect">
            <a:avLst/>
          </a:prstGeom>
          <a:solidFill>
            <a:srgbClr val="EF8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Vivado HLS</a:t>
            </a:r>
            <a:br/>
            <a:r>
              <a:t>csim + csynth</a:t>
            </a:r>
            <a:br/>
            <a:r>
              <a:t>2018.3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04504" y="2194560"/>
            <a:ext cx="338328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23960" y="1828800"/>
            <a:ext cx="1417320" cy="731520"/>
          </a:xfrm>
          <a:prstGeom prst="round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验证/报告</a:t>
            </a:r>
            <a:br/>
            <a:r>
              <a:t>accuracy</a:t>
            </a:r>
            <a:br/>
            <a:r>
              <a:t>latency/resource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268712" y="2194560"/>
            <a:ext cx="338328" cy="0"/>
          </a:xfrm>
          <a:prstGeom prst="line">
            <a:avLst/>
          </a:prstGeom>
          <a:ln w="20320">
            <a:solidFill>
              <a:srgbClr val="6069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488168" y="1828800"/>
            <a:ext cx="1417320" cy="73152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Memory</a:t>
            </a:r>
            <a:br/>
            <a:r>
              <a:t>verified impl</a:t>
            </a:r>
            <a:br/>
            <a:r>
              <a:t>parameter exp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14400" y="3657600"/>
          <a:ext cx="10241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3886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阶段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输入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输出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证据文件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模型阶段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MNIST 数据集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ONNX + reference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models/mnist_recognition/*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HLS 阶段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ONNX / task JSON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HLS project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runs/.../hls_project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验证阶段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csim/csynth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accuracy + report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summary.md / report.json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" y="656539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DL-Operator-to-HLS Agent · MNIST 真实识别 Demo · 2026-06-17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65392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MNIST Demo：真实验证结果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41248"/>
            <a:ext cx="1097280" cy="4572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56705" y="1118870"/>
          <a:ext cx="52120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</a:tblGrid>
              <a:tr h="35052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识别指标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结果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样本数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20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ONNX reference accuracy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95%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HLS csim accuracy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95%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Argmax match rate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100%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HLS correct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19 / 20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" y="656539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DL-Operator-to-HLS Agent · MNIST 真实识别 Demo · 2026-06-17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65392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  <p:graphicFrame>
        <p:nvGraphicFramePr>
          <p:cNvPr id="13" name="Table 4"/>
          <p:cNvGraphicFramePr>
            <a:graphicFrameLocks noGrp="1"/>
          </p:cNvGraphicFramePr>
          <p:nvPr/>
        </p:nvGraphicFramePr>
        <p:xfrm>
          <a:off x="594360" y="111887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项目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结果</a:t>
                      </a:r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模型结构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MLP(784,64,32,10)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训练 epoch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2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5000 样本评估准确率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91.76%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HLS reference 样本数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t>20</a:t>
                      </a:r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2843"/>
                </a:solidFill>
                <a:latin typeface="微软雅黑" panose="020B0503020204020204" charset="-122"/>
              </a:defRPr>
            </a:pPr>
            <a:r>
              <a:t>MNIST Demo：Vivado HLS 综合结果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41248"/>
            <a:ext cx="1097280" cy="45720"/>
          </a:xfrm>
          <a:prstGeom prst="rect">
            <a:avLst/>
          </a:prstGeom>
          <a:solidFill>
            <a:srgbClr val="12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607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功能通过之外，也拿到了可解析的 HLS report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325880"/>
          <a:ext cx="104241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  <a:gridCol w="2606040"/>
                <a:gridCol w="2606040"/>
              </a:tblGrid>
              <a:tr h="30697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类别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指标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结果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200" b="1"/>
                        <a:t>说明</a:t>
                      </a:r>
                      <a:endParaRPr sz="1200" b="1"/>
                    </a:p>
                  </a:txBody>
                  <a:tcPr marL="36576" marR="36576">
                    <a:solidFill>
                      <a:srgbClr val="142843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Latency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min / max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1234 / 1237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cycles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Interval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min / max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1234 / 1237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当前 Resource 策略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Resources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DSP / BRAM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133 / 48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乘法器/存储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Resources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LUT / FF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31792 / 21275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逻辑资源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Timing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target / estimated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10.0ns / 8.237ns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满足约束</a:t>
                      </a:r>
                      <a:endParaRPr sz="1000" b="1"/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6978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Status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timing met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True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62B33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000" b="1"/>
                        <a:t>可作为 HLS candidate</a:t>
                      </a:r>
                      <a:endParaRPr sz="1000" b="1"/>
                    </a:p>
                  </a:txBody>
                  <a:tcPr marL="36576" marR="36576">
                    <a:solidFill>
                      <a:srgbClr val="F8FBF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94360" y="656539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DL-Operator-to-HLS Agent · MNIST 真实识别 Demo · 2026-06-17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65392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0">
                <a:solidFill>
                  <a:srgbClr val="606976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2269</Words>
  <Application>WPS 演示</Application>
  <PresentationFormat>On-screen Show (4:3)</PresentationFormat>
  <Paragraphs>276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陈卓(2025213895)</cp:lastModifiedBy>
  <cp:revision>2</cp:revision>
  <dcterms:created xsi:type="dcterms:W3CDTF">2013-01-27T09:14:00Z</dcterms:created>
  <dcterms:modified xsi:type="dcterms:W3CDTF">2026-06-17T14:17:42Z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2052-12.1.0.24031</vt:lpwstr>
  </property>
  <property fmtid="{D5CDD505-2E9C-101B-9397-08002B2CF9AE}" pid="3" name="ICV">
    <vt:lpwstr>7A43CF85528646B4AF2E06E2CFF85DE4_12</vt:lpwstr>
  </property>
</Properties>
</file>